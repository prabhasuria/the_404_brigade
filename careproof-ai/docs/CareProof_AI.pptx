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/>
          <p:nvPr/>
        </p:nvSpPr>
        <p:spPr>
          <a:xfrm>
            <a:off x="146599" y="2902693"/>
            <a:ext cx="8760002" cy="14528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/>
            <a:r>
              <a:t>Team Details</a:t>
            </a:r>
            <a:endParaRPr sz="2100">
              <a:solidFill>
                <a:srgbClr val="FFFFFF"/>
              </a:solidFill>
              <a:latin typeface="Arial Rounded MT Bold"/>
              <a:ea typeface="Arial Rounded MT Bold"/>
              <a:cs typeface="Arial Rounded MT Bold"/>
              <a:sym typeface="Arial Rounded MT Bold"/>
            </a:endParaRPr>
          </a:p>
          <a:p>
            <a:pPr/>
            <a:r>
              <a:t>Team name: The 404 Brigade</a:t>
            </a:r>
            <a:endParaRPr b="1" sz="1600">
              <a:solidFill>
                <a:srgbClr val="64FFDA"/>
              </a:solidFill>
            </a:endParaRPr>
          </a:p>
          <a:p>
            <a:pPr/>
            <a:r>
              <a:t>Team leader name: Suraj S</a:t>
            </a:r>
            <a:endParaRPr b="1" sz="1600">
              <a:solidFill>
                <a:srgbClr val="64FFDA"/>
              </a:solidFill>
            </a:endParaRPr>
          </a:p>
          <a:p>
            <a:pPr/>
            <a:r>
              <a:t>Problem Statement: CareProof AI — Transparent Social Media Medical Fundraising:</a:t>
            </a:r>
          </a:p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Solving Claim Fraud, Creator Wallet Diversion, and Uncapped Overfunding via Gemini Multimodal Verification &amp; Direct Hospital Escrow</a:t>
            </a:r>
          </a:p>
        </p:txBody>
      </p:sp>
      <p:pic>
        <p:nvPicPr>
          <p:cNvPr id="110" name="Frame 144.pngGoogle Shape;55;p13" descr="Frame 144.pngGoogle Shape;55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Frame 144.pngGoogle Shape;56;p13" descr="Frame 144.pngGoogle Shape;56;p13"/>
          <p:cNvPicPr>
            <a:picLocks noChangeAspect="1"/>
          </p:cNvPicPr>
          <p:nvPr/>
        </p:nvPicPr>
        <p:blipFill>
          <a:blip r:embed="rId3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roup 427319979.pngGoogle Shape;69;p15" descr="Group 427319979.pngGoogle Shape;69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Google Shape;71;p15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Brief about the idea</a:t>
            </a:r>
          </a:p>
        </p:txBody>
      </p:sp>
      <p:sp>
        <p:nvSpPr>
          <p:cNvPr id="115" name="Rounded Rectangle 71"/>
          <p:cNvSpPr/>
          <p:nvPr/>
        </p:nvSpPr>
        <p:spPr>
          <a:xfrm>
            <a:off x="548640" y="1280160"/>
            <a:ext cx="8046720" cy="105156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EF444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72"/>
          <p:cNvSpPr txBox="1"/>
          <p:nvPr/>
        </p:nvSpPr>
        <p:spPr>
          <a:xfrm>
            <a:off x="777240" y="1371600"/>
            <a:ext cx="7589520" cy="696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300"/>
              </a:spcBef>
              <a:defRPr b="1" sz="1500">
                <a:solidFill>
                  <a:srgbClr val="EF4444"/>
                </a:solidFill>
              </a:defRPr>
            </a:pPr>
            <a:r>
              <a:t>The Core Problem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Social media raises millions for critical healthcare, but donors cannot verify bills, money lands in creator personal bank/UPI accounts, and viral posts raise 200-500% over bills with zero caps or accountability.</a:t>
            </a:r>
          </a:p>
        </p:txBody>
      </p:sp>
      <p:sp>
        <p:nvSpPr>
          <p:cNvPr id="117" name="Rounded Rectangle 73"/>
          <p:cNvSpPr/>
          <p:nvPr/>
        </p:nvSpPr>
        <p:spPr>
          <a:xfrm>
            <a:off x="548640" y="2468879"/>
            <a:ext cx="8046720" cy="105156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74"/>
          <p:cNvSpPr txBox="1"/>
          <p:nvPr/>
        </p:nvSpPr>
        <p:spPr>
          <a:xfrm>
            <a:off x="777240" y="2560320"/>
            <a:ext cx="7589520" cy="696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300"/>
              </a:spcBef>
              <a:defRPr b="1" sz="1500">
                <a:solidFill>
                  <a:srgbClr val="64FFDA"/>
                </a:solidFill>
              </a:defRPr>
            </a:pPr>
            <a:r>
              <a:t>The CareProof Solution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 transparent, AI-assisted medical crowdfunding platform that bridges social campaigns directly with verified hospital billing escrow accounts (Apollo, Fortis, Tata Memorial) and real-time overfunding locks.</a:t>
            </a:r>
          </a:p>
        </p:txBody>
      </p:sp>
      <p:sp>
        <p:nvSpPr>
          <p:cNvPr id="119" name="Rounded Rectangle 75"/>
          <p:cNvSpPr/>
          <p:nvPr/>
        </p:nvSpPr>
        <p:spPr>
          <a:xfrm>
            <a:off x="548640" y="3657600"/>
            <a:ext cx="8046720" cy="105156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76"/>
          <p:cNvSpPr txBox="1"/>
          <p:nvPr/>
        </p:nvSpPr>
        <p:spPr>
          <a:xfrm>
            <a:off x="777240" y="3749040"/>
            <a:ext cx="7589520" cy="696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300"/>
              </a:spcBef>
              <a:defRPr b="1" sz="1500">
                <a:solidFill>
                  <a:srgbClr val="22C55E"/>
                </a:solidFill>
              </a:defRPr>
            </a:pPr>
            <a:r>
              <a:t>Google Gemini Multimodal Core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Uses Gemini 2.0 Flash to extract clinical line-items, cross-check claimed amounts against authentic hospital quotes (+89% inflation flags), audit viral social flyers, and generate multilingual 9:16 video scripts.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Frame 144.pngGoogle Shape;76;p16" descr="Frame 144.pngGoogle Shape;76;p16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Group 427319979.pngGoogle Shape;77;p16" descr="Group 427319979.pngGoogle Shape;77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Google Shape;79;p16"/>
          <p:cNvSpPr txBox="1"/>
          <p:nvPr/>
        </p:nvSpPr>
        <p:spPr>
          <a:xfrm>
            <a:off x="265350" y="663824"/>
            <a:ext cx="8943000" cy="64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Opportunities</a:t>
            </a:r>
          </a:p>
        </p:txBody>
      </p:sp>
      <p:sp>
        <p:nvSpPr>
          <p:cNvPr id="125" name="Rounded Rectangle 79"/>
          <p:cNvSpPr/>
          <p:nvPr/>
        </p:nvSpPr>
        <p:spPr>
          <a:xfrm>
            <a:off x="547734" y="1280160"/>
            <a:ext cx="2651761" cy="347472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80"/>
          <p:cNvSpPr txBox="1"/>
          <p:nvPr/>
        </p:nvSpPr>
        <p:spPr>
          <a:xfrm>
            <a:off x="640080" y="1371599"/>
            <a:ext cx="2286001" cy="1941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64FFDA"/>
                </a:solidFill>
              </a:defRPr>
            </a:pPr>
            <a:r>
              <a:t>1. How different is it from existing ideas?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Existing platforms (GoFundMe, Milaap, Ketto) disburse money straight to creator personal accounts with zero hospital oversight and zero caps. CareProof AI enforces a 100% Zero-Wallet Architecture where funds route strictly to verified hospital billing accounts.</a:t>
            </a:r>
          </a:p>
        </p:txBody>
      </p:sp>
      <p:sp>
        <p:nvSpPr>
          <p:cNvPr id="127" name="Rounded Rectangle 81"/>
          <p:cNvSpPr/>
          <p:nvPr/>
        </p:nvSpPr>
        <p:spPr>
          <a:xfrm>
            <a:off x="3246120" y="1280160"/>
            <a:ext cx="2651761" cy="347472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82"/>
          <p:cNvSpPr txBox="1"/>
          <p:nvPr/>
        </p:nvSpPr>
        <p:spPr>
          <a:xfrm>
            <a:off x="3429000" y="1371599"/>
            <a:ext cx="2286000" cy="2093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0D9488"/>
                </a:solidFill>
              </a:defRPr>
            </a:pPr>
            <a:r>
              <a:t>2. How will it be able to solve the problem?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Clinical Verification: Gemini OCR audits hospital invoices before campaigns go live.</a:t>
            </a:r>
            <a:br/>
            <a:r>
              <a:t>• Overfunding Lock: A thread-safe mutex lock caps donations at 100% and diverts surplus to pediatric funds.</a:t>
            </a:r>
            <a:br/>
            <a:r>
              <a:t>• Cryptographic Receipts: Every donor gets an immutable SHA-256 transaction hash.</a:t>
            </a:r>
          </a:p>
        </p:txBody>
      </p:sp>
      <p:sp>
        <p:nvSpPr>
          <p:cNvPr id="129" name="Rounded Rectangle 83"/>
          <p:cNvSpPr/>
          <p:nvPr/>
        </p:nvSpPr>
        <p:spPr>
          <a:xfrm>
            <a:off x="6035040" y="1280160"/>
            <a:ext cx="2651761" cy="347472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84"/>
          <p:cNvSpPr txBox="1"/>
          <p:nvPr/>
        </p:nvSpPr>
        <p:spPr>
          <a:xfrm>
            <a:off x="6217920" y="1371599"/>
            <a:ext cx="2286001" cy="2162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F59E0B"/>
                </a:solidFill>
              </a:defRPr>
            </a:pPr>
            <a:r>
              <a:t>3. Unique Selling Proposition (USP)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★ Direct Hospital Escrow Guarantee (0.00% creator cut)</a:t>
            </a:r>
            <a:br/>
            <a:r>
              <a:t>★ Thread-Safe Overfunding Mutex Lock &amp; Emergency Pediatric Pool</a:t>
            </a:r>
            <a:br/>
            <a:r>
              <a:t>★ Multimodal Gemini Vision Flyer Scanner for viral Instagram/TikTok posts</a:t>
            </a:r>
            <a:br/>
            <a:r>
              <a:t>★ Multilingual 9:16 Vertical Reel Studio across 6 languages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Frame 144.pngGoogle Shape;84;p17" descr="Frame 144.pngGoogle Shape;84;p17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Group 427319979.pngGoogle Shape;85;p17" descr="Group 427319979.pngGoogle Shape;85;p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Google Shape;87;p17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List of features offered by the solution</a:t>
            </a:r>
          </a:p>
        </p:txBody>
      </p:sp>
      <p:sp>
        <p:nvSpPr>
          <p:cNvPr id="135" name="Rounded Rectangle 87"/>
          <p:cNvSpPr/>
          <p:nvPr/>
        </p:nvSpPr>
        <p:spPr>
          <a:xfrm>
            <a:off x="457200" y="1280160"/>
            <a:ext cx="2651761" cy="160020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88"/>
          <p:cNvSpPr txBox="1"/>
          <p:nvPr/>
        </p:nvSpPr>
        <p:spPr>
          <a:xfrm>
            <a:off x="612647" y="1371600"/>
            <a:ext cx="2331722" cy="107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64FFDA"/>
                </a:solidFill>
              </a:defRPr>
            </a:pPr>
            <a:r>
              <a:t>Direct Hospital Escrow Routing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100% of proceeds settle directly to Apollo, Fortis, or Tata Memorial billing accounts. Influencer access: 0.00% BLOCKED.</a:t>
            </a:r>
          </a:p>
        </p:txBody>
      </p:sp>
      <p:sp>
        <p:nvSpPr>
          <p:cNvPr id="137" name="Rounded Rectangle 89"/>
          <p:cNvSpPr/>
          <p:nvPr/>
        </p:nvSpPr>
        <p:spPr>
          <a:xfrm>
            <a:off x="3246120" y="1280160"/>
            <a:ext cx="2651761" cy="160020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90"/>
          <p:cNvSpPr txBox="1"/>
          <p:nvPr/>
        </p:nvSpPr>
        <p:spPr>
          <a:xfrm>
            <a:off x="3401567" y="1371600"/>
            <a:ext cx="2331722" cy="107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64FFDA"/>
                </a:solidFill>
              </a:defRPr>
            </a:pPr>
            <a:r>
              <a:t>Thread-Safe Overfunding Lock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Atomic mutex lock disables donations at $0 remaining and transparently routes overflow to the Hospital Pediatric Emergency Pool.</a:t>
            </a:r>
          </a:p>
        </p:txBody>
      </p:sp>
      <p:sp>
        <p:nvSpPr>
          <p:cNvPr id="139" name="Rounded Rectangle 91"/>
          <p:cNvSpPr/>
          <p:nvPr/>
        </p:nvSpPr>
        <p:spPr>
          <a:xfrm>
            <a:off x="6035040" y="1280160"/>
            <a:ext cx="2651761" cy="160020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92"/>
          <p:cNvSpPr txBox="1"/>
          <p:nvPr/>
        </p:nvSpPr>
        <p:spPr>
          <a:xfrm>
            <a:off x="6190488" y="1371600"/>
            <a:ext cx="2331721" cy="107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64FFDA"/>
                </a:solidFill>
              </a:defRPr>
            </a:pPr>
            <a:r>
              <a:t>Multimodal Viral Flyer Scanner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Gemini 2.0 Flash Vision audits Instagram/TikTok flyers, detects personal UPI IDs (limsontt1@fbl), and migrates them to escrow.</a:t>
            </a:r>
          </a:p>
        </p:txBody>
      </p:sp>
      <p:sp>
        <p:nvSpPr>
          <p:cNvPr id="141" name="Rounded Rectangle 93"/>
          <p:cNvSpPr/>
          <p:nvPr/>
        </p:nvSpPr>
        <p:spPr>
          <a:xfrm>
            <a:off x="457200" y="3017520"/>
            <a:ext cx="2651761" cy="160020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94"/>
          <p:cNvSpPr txBox="1"/>
          <p:nvPr/>
        </p:nvSpPr>
        <p:spPr>
          <a:xfrm>
            <a:off x="612647" y="3108960"/>
            <a:ext cx="2331722" cy="1027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64FFDA"/>
                </a:solidFill>
              </a:defRPr>
            </a:pPr>
            <a:r>
              <a:t>Human-in-the-Loop Verifier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Gemini flags clinical inflation discrepancies (+89.2% on Vikram Singh); authorized medical verifiers sign cryptographic SHA-256 certificates.</a:t>
            </a:r>
          </a:p>
        </p:txBody>
      </p:sp>
      <p:sp>
        <p:nvSpPr>
          <p:cNvPr id="143" name="Rounded Rectangle 95"/>
          <p:cNvSpPr/>
          <p:nvPr/>
        </p:nvSpPr>
        <p:spPr>
          <a:xfrm>
            <a:off x="3246120" y="3017520"/>
            <a:ext cx="2651761" cy="160020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96"/>
          <p:cNvSpPr txBox="1"/>
          <p:nvPr/>
        </p:nvSpPr>
        <p:spPr>
          <a:xfrm>
            <a:off x="3401567" y="3108960"/>
            <a:ext cx="2331722" cy="107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64FFDA"/>
                </a:solidFill>
              </a:defRPr>
            </a:pPr>
            <a:r>
              <a:t>Multilingual 9:16 Reel Studio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Generates high-converting vertical video scripts in Hindi, Spanish, Tamil, English, Bengali, and Marathi with smartphone preview.</a:t>
            </a:r>
          </a:p>
        </p:txBody>
      </p:sp>
      <p:sp>
        <p:nvSpPr>
          <p:cNvPr id="145" name="Rounded Rectangle 97"/>
          <p:cNvSpPr/>
          <p:nvPr/>
        </p:nvSpPr>
        <p:spPr>
          <a:xfrm>
            <a:off x="6035040" y="3017520"/>
            <a:ext cx="2651761" cy="160020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98"/>
          <p:cNvSpPr txBox="1"/>
          <p:nvPr/>
        </p:nvSpPr>
        <p:spPr>
          <a:xfrm>
            <a:off x="6190488" y="3108960"/>
            <a:ext cx="2331721" cy="887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64FFDA"/>
                </a:solidFill>
              </a:defRPr>
            </a:pPr>
            <a:r>
              <a:t>Hospital Settlement Portal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Real-time billing ledger showing inward transfers, receipt hashes (CP-REC-XXXXX), and pediatric pool allocations for hospital accountants.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Frame 144.pngGoogle Shape;92;p18" descr="Frame 144.pngGoogle Shape;92;p18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Group 427319979.pngGoogle Shape;93;p18" descr="Group 427319979.pngGoogle Shape;93;p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Google Shape;95;p18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Process flow diagram or Use-case diagram</a:t>
            </a:r>
          </a:p>
        </p:txBody>
      </p:sp>
      <p:pic>
        <p:nvPicPr>
          <p:cNvPr id="151" name="Picture 95" descr="Picture 9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7200" y="1234439"/>
            <a:ext cx="8229600" cy="35204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Frame 144.pngGoogle Shape;100;p19" descr="Frame 144.pngGoogle Shape;100;p19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Group 427319979.pngGoogle Shape;101;p19" descr="Group 427319979.pngGoogle Shape;101;p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Google Shape;103;p19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Wireframes/Mock diagrams of the proposed solution</a:t>
            </a:r>
          </a:p>
        </p:txBody>
      </p:sp>
      <p:sp>
        <p:nvSpPr>
          <p:cNvPr id="156" name="Rounded Rectangle 103"/>
          <p:cNvSpPr/>
          <p:nvPr/>
        </p:nvSpPr>
        <p:spPr>
          <a:xfrm>
            <a:off x="457200" y="1234439"/>
            <a:ext cx="2560321" cy="35204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104"/>
          <p:cNvSpPr txBox="1"/>
          <p:nvPr/>
        </p:nvSpPr>
        <p:spPr>
          <a:xfrm>
            <a:off x="866189" y="1280160"/>
            <a:ext cx="174234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64FFDA"/>
                </a:solidFill>
              </a:defRPr>
            </a:lvl1pPr>
          </a:lstStyle>
          <a:p>
            <a:pPr/>
            <a:r>
              <a:t>1. Live Discovery Grid (/)</a:t>
            </a:r>
          </a:p>
        </p:txBody>
      </p:sp>
      <p:pic>
        <p:nvPicPr>
          <p:cNvPr id="158" name="Picture 105" descr="Picture 10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8640" y="1645920"/>
            <a:ext cx="2377440" cy="3017521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Rounded Rectangle 106"/>
          <p:cNvSpPr/>
          <p:nvPr/>
        </p:nvSpPr>
        <p:spPr>
          <a:xfrm>
            <a:off x="3291840" y="1234439"/>
            <a:ext cx="2560321" cy="35204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107"/>
          <p:cNvSpPr txBox="1"/>
          <p:nvPr/>
        </p:nvSpPr>
        <p:spPr>
          <a:xfrm>
            <a:off x="3471941" y="1280160"/>
            <a:ext cx="2200118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64FFDA"/>
                </a:solidFill>
              </a:defRPr>
            </a:lvl1pPr>
          </a:lstStyle>
          <a:p>
            <a:pPr/>
            <a:r>
              <a:t>2. Direct Escrow &amp; Overfunding</a:t>
            </a:r>
          </a:p>
        </p:txBody>
      </p:sp>
      <p:pic>
        <p:nvPicPr>
          <p:cNvPr id="161" name="Picture 108" descr="Picture 10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383279" y="1645920"/>
            <a:ext cx="2377441" cy="3017521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Rounded Rectangle 109"/>
          <p:cNvSpPr/>
          <p:nvPr/>
        </p:nvSpPr>
        <p:spPr>
          <a:xfrm>
            <a:off x="6126479" y="1234439"/>
            <a:ext cx="2560321" cy="35204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110"/>
          <p:cNvSpPr txBox="1"/>
          <p:nvPr/>
        </p:nvSpPr>
        <p:spPr>
          <a:xfrm>
            <a:off x="6636527" y="1280160"/>
            <a:ext cx="1540227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64FFDA"/>
                </a:solidFill>
              </a:defRPr>
            </a:lvl1pPr>
          </a:lstStyle>
          <a:p>
            <a:pPr/>
            <a:r>
              <a:t>3. Gemini Reel Studio</a:t>
            </a:r>
          </a:p>
        </p:txBody>
      </p:sp>
      <p:pic>
        <p:nvPicPr>
          <p:cNvPr id="164" name="Picture 111" descr="Picture 11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217920" y="1645920"/>
            <a:ext cx="2377441" cy="30175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Frame 144.pngGoogle Shape;108;p20" descr="Frame 144.pngGoogle Shape;108;p20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Group 427319979.pngGoogle Shape;109;p20" descr="Group 427319979.pngGoogle Shape;109;p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Google Shape;111;p20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Architecture diagram of the proposed solution</a:t>
            </a:r>
          </a:p>
        </p:txBody>
      </p:sp>
      <p:pic>
        <p:nvPicPr>
          <p:cNvPr id="169" name="Picture 111" descr="Picture 1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7200" y="1234439"/>
            <a:ext cx="8229600" cy="35204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Frame 144.pngGoogle Shape;116;p21" descr="Frame 144.pngGoogle Shape;116;p21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Group 427319979.pngGoogle Shape;117;p21" descr="Group 427319979.pngGoogle Shape;117;p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Google Shape;119;p21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Technologies to be used in the solution</a:t>
            </a:r>
          </a:p>
        </p:txBody>
      </p:sp>
      <p:sp>
        <p:nvSpPr>
          <p:cNvPr id="174" name="Rounded Rectangle 119"/>
          <p:cNvSpPr/>
          <p:nvPr/>
        </p:nvSpPr>
        <p:spPr>
          <a:xfrm>
            <a:off x="457200" y="1280160"/>
            <a:ext cx="402336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120"/>
          <p:cNvSpPr txBox="1"/>
          <p:nvPr/>
        </p:nvSpPr>
        <p:spPr>
          <a:xfrm>
            <a:off x="640079" y="1353311"/>
            <a:ext cx="3657600" cy="544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64FFDA"/>
                </a:solidFill>
              </a:defRPr>
            </a:pPr>
            <a:r>
              <a:t>Google Gemini 2.0 Flash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Multimodal Vision for viral flyer forensics, OCR on hospital bills, and sub-second reasoning.</a:t>
            </a:r>
          </a:p>
        </p:txBody>
      </p:sp>
      <p:sp>
        <p:nvSpPr>
          <p:cNvPr id="176" name="Rounded Rectangle 121"/>
          <p:cNvSpPr/>
          <p:nvPr/>
        </p:nvSpPr>
        <p:spPr>
          <a:xfrm>
            <a:off x="4663440" y="1280160"/>
            <a:ext cx="402336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122"/>
          <p:cNvSpPr txBox="1"/>
          <p:nvPr/>
        </p:nvSpPr>
        <p:spPr>
          <a:xfrm>
            <a:off x="4846320" y="1353311"/>
            <a:ext cx="3657599" cy="544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64FFDA"/>
                </a:solidFill>
              </a:defRPr>
            </a:pPr>
            <a:r>
              <a:t>Google Gemini 1.5 Pro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Multilingual 9:16 Reel scripts across 6 languages, culturally adapted hooks, and accessible story translation.</a:t>
            </a:r>
          </a:p>
        </p:txBody>
      </p:sp>
      <p:sp>
        <p:nvSpPr>
          <p:cNvPr id="178" name="Rounded Rectangle 123"/>
          <p:cNvSpPr/>
          <p:nvPr/>
        </p:nvSpPr>
        <p:spPr>
          <a:xfrm>
            <a:off x="457200" y="2148838"/>
            <a:ext cx="4023360" cy="7772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124"/>
          <p:cNvSpPr txBox="1"/>
          <p:nvPr/>
        </p:nvSpPr>
        <p:spPr>
          <a:xfrm>
            <a:off x="640079" y="2221990"/>
            <a:ext cx="3657600" cy="544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64FFDA"/>
                </a:solidFill>
              </a:defRPr>
            </a:pPr>
            <a:r>
              <a:t>Google Cloud Run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Serverless container hosting with scale-to-zero when idle and instant concurrency auto-scaling.</a:t>
            </a:r>
          </a:p>
        </p:txBody>
      </p:sp>
      <p:sp>
        <p:nvSpPr>
          <p:cNvPr id="180" name="Rounded Rectangle 125"/>
          <p:cNvSpPr/>
          <p:nvPr/>
        </p:nvSpPr>
        <p:spPr>
          <a:xfrm>
            <a:off x="4663440" y="2148838"/>
            <a:ext cx="4023360" cy="7772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126"/>
          <p:cNvSpPr txBox="1"/>
          <p:nvPr/>
        </p:nvSpPr>
        <p:spPr>
          <a:xfrm>
            <a:off x="4846320" y="2221990"/>
            <a:ext cx="3657599" cy="544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64FFDA"/>
                </a:solidFill>
              </a:defRPr>
            </a:pPr>
            <a:r>
              <a:t>Google Cloud Build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Automated CI/CD pipeline building Docker images directly from git commits (cloudbuild.yaml).</a:t>
            </a:r>
          </a:p>
        </p:txBody>
      </p:sp>
      <p:sp>
        <p:nvSpPr>
          <p:cNvPr id="182" name="Rounded Rectangle 127"/>
          <p:cNvSpPr/>
          <p:nvPr/>
        </p:nvSpPr>
        <p:spPr>
          <a:xfrm>
            <a:off x="457200" y="3017520"/>
            <a:ext cx="402336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128"/>
          <p:cNvSpPr txBox="1"/>
          <p:nvPr/>
        </p:nvSpPr>
        <p:spPr>
          <a:xfrm>
            <a:off x="640079" y="3090672"/>
            <a:ext cx="3657600" cy="54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64FFDA"/>
                </a:solidFill>
              </a:defRPr>
            </a:pPr>
            <a:r>
              <a:t>Google Cloud Storage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Encrypted storage for patient clinical quotes, medical records, and generated video assets.</a:t>
            </a:r>
          </a:p>
        </p:txBody>
      </p:sp>
      <p:sp>
        <p:nvSpPr>
          <p:cNvPr id="184" name="Rounded Rectangle 129"/>
          <p:cNvSpPr/>
          <p:nvPr/>
        </p:nvSpPr>
        <p:spPr>
          <a:xfrm>
            <a:off x="4663440" y="3017520"/>
            <a:ext cx="402336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130"/>
          <p:cNvSpPr txBox="1"/>
          <p:nvPr/>
        </p:nvSpPr>
        <p:spPr>
          <a:xfrm>
            <a:off x="4846320" y="3090672"/>
            <a:ext cx="3657599" cy="54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64FFDA"/>
                </a:solidFill>
              </a:defRPr>
            </a:pPr>
            <a:r>
              <a:t>Firebase / Cloud Firestore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Sub-second real-time database powering live donation streams and immutable transaction audits.</a:t>
            </a:r>
          </a:p>
        </p:txBody>
      </p:sp>
      <p:sp>
        <p:nvSpPr>
          <p:cNvPr id="186" name="Rounded Rectangle 131"/>
          <p:cNvSpPr/>
          <p:nvPr/>
        </p:nvSpPr>
        <p:spPr>
          <a:xfrm>
            <a:off x="457200" y="3886200"/>
            <a:ext cx="402336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132"/>
          <p:cNvSpPr txBox="1"/>
          <p:nvPr/>
        </p:nvSpPr>
        <p:spPr>
          <a:xfrm>
            <a:off x="640079" y="3959352"/>
            <a:ext cx="3657600" cy="54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64FFDA"/>
                </a:solidFill>
              </a:defRPr>
            </a:pPr>
            <a:r>
              <a:t>FastAPI &amp; Python 3.11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High-throughput asynchronous core engine with Pydantic validation guards and threading.Lock mutex.</a:t>
            </a:r>
          </a:p>
        </p:txBody>
      </p:sp>
      <p:sp>
        <p:nvSpPr>
          <p:cNvPr id="188" name="Rounded Rectangle 133"/>
          <p:cNvSpPr/>
          <p:nvPr/>
        </p:nvSpPr>
        <p:spPr>
          <a:xfrm>
            <a:off x="4663440" y="3886200"/>
            <a:ext cx="402336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34"/>
          <p:cNvSpPr txBox="1"/>
          <p:nvPr/>
        </p:nvSpPr>
        <p:spPr>
          <a:xfrm>
            <a:off x="4846320" y="3959352"/>
            <a:ext cx="3657599" cy="54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64FFDA"/>
                </a:solidFill>
              </a:defRPr>
            </a:pPr>
            <a:r>
              <a:t>Tailwind &amp; Glassmorphic UI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Mobile-first responsive donor experience with real-time SSE progress bars and phone Reel simulator.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Frame 144.pngGoogle Shape;124;p22" descr="Frame 144.pngGoogle Shape;124;p22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Group 427319979.pngGoogle Shape;125;p22" descr="Group 427319979.pngGoogle Shape;125;p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Google Shape;127;p22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Estimated implementation cost</a:t>
            </a:r>
          </a:p>
        </p:txBody>
      </p:sp>
      <p:sp>
        <p:nvSpPr>
          <p:cNvPr id="194" name="Rounded Rectangle 127"/>
          <p:cNvSpPr/>
          <p:nvPr/>
        </p:nvSpPr>
        <p:spPr>
          <a:xfrm>
            <a:off x="548640" y="1280160"/>
            <a:ext cx="8046720" cy="621793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128"/>
          <p:cNvSpPr txBox="1"/>
          <p:nvPr/>
        </p:nvSpPr>
        <p:spPr>
          <a:xfrm>
            <a:off x="777240" y="1353311"/>
            <a:ext cx="7589520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FFDA"/>
                </a:solidFill>
              </a:defRPr>
            </a:lvl1pPr>
          </a:lstStyle>
          <a:p>
            <a:pPr/>
            <a:r>
              <a:t>Google Cloud Run  —  Free Tier includes 2M requests/mo. Under high traffic spikes: ~$5.00 / month. Scales to zero when idle.</a:t>
            </a:r>
          </a:p>
        </p:txBody>
      </p:sp>
      <p:sp>
        <p:nvSpPr>
          <p:cNvPr id="196" name="Rounded Rectangle 129"/>
          <p:cNvSpPr/>
          <p:nvPr/>
        </p:nvSpPr>
        <p:spPr>
          <a:xfrm>
            <a:off x="548640" y="1975104"/>
            <a:ext cx="8046720" cy="621793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130"/>
          <p:cNvSpPr txBox="1"/>
          <p:nvPr/>
        </p:nvSpPr>
        <p:spPr>
          <a:xfrm>
            <a:off x="777240" y="2048255"/>
            <a:ext cx="7589520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0D9488"/>
                </a:solidFill>
              </a:defRPr>
            </a:lvl1pPr>
          </a:lstStyle>
          <a:p>
            <a:pPr/>
            <a:r>
              <a:t>Google Gemini 2.0 Flash  —  Generous free tier on AI Studio. In production: ~$0.0001 per multimodal flyer audit. ~$2.00 - $4.00 / month.</a:t>
            </a:r>
          </a:p>
        </p:txBody>
      </p:sp>
      <p:sp>
        <p:nvSpPr>
          <p:cNvPr id="198" name="Rounded Rectangle 131"/>
          <p:cNvSpPr/>
          <p:nvPr/>
        </p:nvSpPr>
        <p:spPr>
          <a:xfrm>
            <a:off x="548640" y="2670048"/>
            <a:ext cx="8046720" cy="621793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132"/>
          <p:cNvSpPr txBox="1"/>
          <p:nvPr/>
        </p:nvSpPr>
        <p:spPr>
          <a:xfrm>
            <a:off x="777240" y="2743200"/>
            <a:ext cx="7589520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22C55E"/>
                </a:solidFill>
              </a:defRPr>
            </a:lvl1pPr>
          </a:lstStyle>
          <a:p>
            <a:pPr/>
            <a:r>
              <a:t>Google Cloud Storage  —  Standard GCS storage for clinical records and flyers. 10,000 campaigns = ~5GB: ~$0.15 / month.</a:t>
            </a:r>
          </a:p>
        </p:txBody>
      </p:sp>
      <p:sp>
        <p:nvSpPr>
          <p:cNvPr id="200" name="Rounded Rectangle 133"/>
          <p:cNvSpPr/>
          <p:nvPr/>
        </p:nvSpPr>
        <p:spPr>
          <a:xfrm>
            <a:off x="548640" y="3364991"/>
            <a:ext cx="8046720" cy="621793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134"/>
          <p:cNvSpPr txBox="1"/>
          <p:nvPr/>
        </p:nvSpPr>
        <p:spPr>
          <a:xfrm>
            <a:off x="777240" y="3438144"/>
            <a:ext cx="7589520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Firebase Cloud Firestore  —  Free Tier provides 50,000 reads/day. Production live progress streams: ~$2.50 / month.</a:t>
            </a:r>
          </a:p>
        </p:txBody>
      </p:sp>
      <p:sp>
        <p:nvSpPr>
          <p:cNvPr id="202" name="Rounded Rectangle 135"/>
          <p:cNvSpPr/>
          <p:nvPr/>
        </p:nvSpPr>
        <p:spPr>
          <a:xfrm>
            <a:off x="548640" y="4059935"/>
            <a:ext cx="8046720" cy="621793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136"/>
          <p:cNvSpPr txBox="1"/>
          <p:nvPr/>
        </p:nvSpPr>
        <p:spPr>
          <a:xfrm>
            <a:off x="777240" y="4133086"/>
            <a:ext cx="7589520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TOTAL ESTIMATED PILOT TCO  —  Under $10.00 — $15.00 / month total operating expenditure due to serverless Google Cloud architecture.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Frame 144.pngGoogle Shape;132;p23" descr="Frame 144.pngGoogle Shape;132;p23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Group 427319979.pngGoogle Shape;133;p23" descr="Group 427319979.pngGoogle Shape;133;p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Google Shape;135;p23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Snapshots of the prototype</a:t>
            </a:r>
          </a:p>
        </p:txBody>
      </p:sp>
      <p:sp>
        <p:nvSpPr>
          <p:cNvPr id="208" name="Rounded Rectangle 135"/>
          <p:cNvSpPr/>
          <p:nvPr/>
        </p:nvSpPr>
        <p:spPr>
          <a:xfrm>
            <a:off x="457200" y="1234439"/>
            <a:ext cx="2560321" cy="35204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136"/>
          <p:cNvSpPr txBox="1"/>
          <p:nvPr/>
        </p:nvSpPr>
        <p:spPr>
          <a:xfrm>
            <a:off x="618378" y="1280160"/>
            <a:ext cx="2237964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64FFDA"/>
                </a:solidFill>
              </a:defRPr>
            </a:lvl1pPr>
          </a:lstStyle>
          <a:p>
            <a:pPr/>
            <a:r>
              <a:t>Viral Story Scanner (Gemini Vision)</a:t>
            </a:r>
          </a:p>
        </p:txBody>
      </p:sp>
      <p:pic>
        <p:nvPicPr>
          <p:cNvPr id="210" name="Picture 137" descr="Picture 1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8640" y="1645920"/>
            <a:ext cx="2377440" cy="3017521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Rounded Rectangle 138"/>
          <p:cNvSpPr/>
          <p:nvPr/>
        </p:nvSpPr>
        <p:spPr>
          <a:xfrm>
            <a:off x="3291840" y="1234439"/>
            <a:ext cx="2560321" cy="35204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139"/>
          <p:cNvSpPr txBox="1"/>
          <p:nvPr/>
        </p:nvSpPr>
        <p:spPr>
          <a:xfrm>
            <a:off x="3465172" y="1280160"/>
            <a:ext cx="2213656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64FFDA"/>
                </a:solidFill>
              </a:defRPr>
            </a:lvl1pPr>
          </a:lstStyle>
          <a:p>
            <a:pPr/>
            <a:r>
              <a:t>Human-in-the-Loop Verifier Copilot</a:t>
            </a:r>
          </a:p>
        </p:txBody>
      </p:sp>
      <p:pic>
        <p:nvPicPr>
          <p:cNvPr id="213" name="Picture 140" descr="Picture 14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383279" y="1645920"/>
            <a:ext cx="2377441" cy="3017521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Rounded Rectangle 141"/>
          <p:cNvSpPr/>
          <p:nvPr/>
        </p:nvSpPr>
        <p:spPr>
          <a:xfrm>
            <a:off x="6126479" y="1234439"/>
            <a:ext cx="2560321" cy="35204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142"/>
          <p:cNvSpPr txBox="1"/>
          <p:nvPr/>
        </p:nvSpPr>
        <p:spPr>
          <a:xfrm>
            <a:off x="6310168" y="1280160"/>
            <a:ext cx="2192944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000">
                <a:solidFill>
                  <a:srgbClr val="64FFDA"/>
                </a:solidFill>
              </a:defRPr>
            </a:lvl1pPr>
          </a:lstStyle>
          <a:p>
            <a:pPr/>
            <a:r>
              <a:t>Hospital Inward Settlement Ledger</a:t>
            </a:r>
          </a:p>
        </p:txBody>
      </p:sp>
      <p:pic>
        <p:nvPicPr>
          <p:cNvPr id="216" name="Picture 143" descr="Picture 14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217920" y="1645920"/>
            <a:ext cx="2377441" cy="30175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Frame 144.pngGoogle Shape;140;p24" descr="Frame 144.pngGoogle Shape;140;p24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Group 427319979.pngGoogle Shape;141;p24" descr="Group 427319979.pngGoogle Shape;141;p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Google Shape;143;p24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Prototype Performance report/Benchmarking</a:t>
            </a:r>
          </a:p>
        </p:txBody>
      </p:sp>
      <p:sp>
        <p:nvSpPr>
          <p:cNvPr id="221" name="Rounded Rectangle 143"/>
          <p:cNvSpPr/>
          <p:nvPr/>
        </p:nvSpPr>
        <p:spPr>
          <a:xfrm>
            <a:off x="548640" y="1280160"/>
            <a:ext cx="804672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144"/>
          <p:cNvSpPr txBox="1"/>
          <p:nvPr/>
        </p:nvSpPr>
        <p:spPr>
          <a:xfrm>
            <a:off x="777240" y="1353311"/>
            <a:ext cx="7589520" cy="582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300">
                <a:solidFill>
                  <a:srgbClr val="22C55E"/>
                </a:solidFill>
              </a:defRPr>
            </a:pPr>
            <a:r>
              <a:t>16 / 16 Automated Integration Tests Passing (100%)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End-to-end regression test suite covering health checks, negative donation guards, pending campaign blocks, overfunding mutex caps, and multilingual AI endpoints.</a:t>
            </a:r>
          </a:p>
        </p:txBody>
      </p:sp>
      <p:sp>
        <p:nvSpPr>
          <p:cNvPr id="223" name="Rounded Rectangle 145"/>
          <p:cNvSpPr/>
          <p:nvPr/>
        </p:nvSpPr>
        <p:spPr>
          <a:xfrm>
            <a:off x="548640" y="2148838"/>
            <a:ext cx="8046720" cy="7772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146"/>
          <p:cNvSpPr txBox="1"/>
          <p:nvPr/>
        </p:nvSpPr>
        <p:spPr>
          <a:xfrm>
            <a:off x="777240" y="2221990"/>
            <a:ext cx="7589520" cy="582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300">
                <a:solidFill>
                  <a:srgbClr val="64FFDA"/>
                </a:solidFill>
              </a:defRPr>
            </a:pPr>
            <a:r>
              <a:t>Gemini Inference Speed: ~820ms Latency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Gemini 2.0 Flash synthesizes full 9:16 vertical video scripts, scene visual hooks, and voiceovers in under 1 second. Multimodal flyer forensic analysis finishes in ~1.1s.</a:t>
            </a:r>
          </a:p>
        </p:txBody>
      </p:sp>
      <p:sp>
        <p:nvSpPr>
          <p:cNvPr id="225" name="Rounded Rectangle 147"/>
          <p:cNvSpPr/>
          <p:nvPr/>
        </p:nvSpPr>
        <p:spPr>
          <a:xfrm>
            <a:off x="548640" y="3017520"/>
            <a:ext cx="804672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148"/>
          <p:cNvSpPr txBox="1"/>
          <p:nvPr/>
        </p:nvSpPr>
        <p:spPr>
          <a:xfrm>
            <a:off x="777240" y="3090672"/>
            <a:ext cx="7589520" cy="582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300">
                <a:solidFill>
                  <a:srgbClr val="F59E0B"/>
                </a:solidFill>
              </a:defRPr>
            </a:pPr>
            <a:r>
              <a:t>Mutex Concurrency &amp; Race Condition Benchmark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Zero race conditions detected under high-frequency simulated concurrent donation webhooks. Campaign atomically locks at exactly 100% with surplus routed to pediatric fund.</a:t>
            </a:r>
          </a:p>
        </p:txBody>
      </p:sp>
      <p:sp>
        <p:nvSpPr>
          <p:cNvPr id="227" name="Rounded Rectangle 149"/>
          <p:cNvSpPr/>
          <p:nvPr/>
        </p:nvSpPr>
        <p:spPr>
          <a:xfrm>
            <a:off x="548640" y="3886200"/>
            <a:ext cx="804672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150"/>
          <p:cNvSpPr txBox="1"/>
          <p:nvPr/>
        </p:nvSpPr>
        <p:spPr>
          <a:xfrm>
            <a:off x="777240" y="3959352"/>
            <a:ext cx="7589520" cy="582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300">
                <a:solidFill>
                  <a:srgbClr val="FFFFFF"/>
                </a:solidFill>
              </a:defRPr>
            </a:pPr>
            <a:r>
              <a:t>High-Availability Telemetry on Cloud Run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Sub-50ms HTTP response latency; stateless scale-to-zero capability; /healthz endpoint integrated for automated Google Cloud Run liveness probes.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Frame 144.pngGoogle Shape;148;p25" descr="Frame 144.pngGoogle Shape;148;p25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Group 427319979.pngGoogle Shape;149;p25" descr="Group 427319979.pngGoogle Shape;149;p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Google Shape;151;p25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Additional Details/Future Development</a:t>
            </a:r>
          </a:p>
        </p:txBody>
      </p:sp>
      <p:sp>
        <p:nvSpPr>
          <p:cNvPr id="233" name="Rounded Rectangle 151"/>
          <p:cNvSpPr/>
          <p:nvPr/>
        </p:nvSpPr>
        <p:spPr>
          <a:xfrm>
            <a:off x="548640" y="1280160"/>
            <a:ext cx="804672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152"/>
          <p:cNvSpPr txBox="1"/>
          <p:nvPr/>
        </p:nvSpPr>
        <p:spPr>
          <a:xfrm>
            <a:off x="777240" y="1353311"/>
            <a:ext cx="7589520" cy="582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300">
                <a:solidFill>
                  <a:srgbClr val="64FFDA"/>
                </a:solidFill>
              </a:defRPr>
            </a:pPr>
            <a:r>
              <a:t>1. ABHA / Ayushman Bharat Digital Mission (ABDM) Integration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Integration with India's national health stack for direct biometric verification of patient clinical records, doctor licenses, and hospital registration numbers.</a:t>
            </a:r>
          </a:p>
        </p:txBody>
      </p:sp>
      <p:sp>
        <p:nvSpPr>
          <p:cNvPr id="235" name="Rounded Rectangle 153"/>
          <p:cNvSpPr/>
          <p:nvPr/>
        </p:nvSpPr>
        <p:spPr>
          <a:xfrm>
            <a:off x="548640" y="2148838"/>
            <a:ext cx="8046720" cy="777242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154"/>
          <p:cNvSpPr txBox="1"/>
          <p:nvPr/>
        </p:nvSpPr>
        <p:spPr>
          <a:xfrm>
            <a:off x="777240" y="2221990"/>
            <a:ext cx="7589520" cy="582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300">
                <a:solidFill>
                  <a:srgbClr val="64FFDA"/>
                </a:solidFill>
              </a:defRPr>
            </a:pPr>
            <a:r>
              <a:t>2. On-Chain Zero-Knowledge Proofs (zk-SNARKs)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Cryptographic proofs that allow donors to remain fully anonymous while publicly proving on a public ledger that their money settled into the verified hospital bank account.</a:t>
            </a:r>
          </a:p>
        </p:txBody>
      </p:sp>
      <p:sp>
        <p:nvSpPr>
          <p:cNvPr id="237" name="Rounded Rectangle 155"/>
          <p:cNvSpPr/>
          <p:nvPr/>
        </p:nvSpPr>
        <p:spPr>
          <a:xfrm>
            <a:off x="548640" y="3017520"/>
            <a:ext cx="804672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156"/>
          <p:cNvSpPr txBox="1"/>
          <p:nvPr/>
        </p:nvSpPr>
        <p:spPr>
          <a:xfrm>
            <a:off x="777240" y="3090672"/>
            <a:ext cx="7589520" cy="582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300">
                <a:solidFill>
                  <a:srgbClr val="64FFDA"/>
                </a:solidFill>
              </a:defRPr>
            </a:pPr>
            <a:r>
              <a:t>3. Automated Hospital EHR &amp; Billing API Connectors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Direct ERP/EHR connectors for Epic Systems, Cerner, and SAP Healthcare, automating real-time patient bed allocation upon escrow settlement.</a:t>
            </a:r>
          </a:p>
        </p:txBody>
      </p:sp>
      <p:sp>
        <p:nvSpPr>
          <p:cNvPr id="239" name="Rounded Rectangle 157"/>
          <p:cNvSpPr/>
          <p:nvPr/>
        </p:nvSpPr>
        <p:spPr>
          <a:xfrm>
            <a:off x="548640" y="3886200"/>
            <a:ext cx="8046720" cy="77724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158"/>
          <p:cNvSpPr txBox="1"/>
          <p:nvPr/>
        </p:nvSpPr>
        <p:spPr>
          <a:xfrm>
            <a:off x="777240" y="3959352"/>
            <a:ext cx="7589520" cy="582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300">
                <a:solidFill>
                  <a:srgbClr val="64FFDA"/>
                </a:solidFill>
              </a:defRPr>
            </a:pPr>
            <a:r>
              <a:t>4. Cross-Border Humanitarian Escrow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Global multi-currency escrow settlement for ultra-rare pediatric diseases (e.g. Zolgensma for SMA Type 1, costing $2.1M) across international boundaries.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Frame 144.pngGoogle Shape;156;p26" descr="Frame 144.pngGoogle Shape;156;p26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Group 427319979.pngGoogle Shape;157;p26" descr="Group 427319979.pngGoogle Shape;157;p2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"/>
            <a:ext cx="9144000" cy="507360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Google Shape;159;p26"/>
          <p:cNvSpPr txBox="1"/>
          <p:nvPr/>
        </p:nvSpPr>
        <p:spPr>
          <a:xfrm>
            <a:off x="265350" y="663824"/>
            <a:ext cx="8943000" cy="411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Provide links to your:</a:t>
            </a:r>
          </a:p>
        </p:txBody>
      </p:sp>
      <p:sp>
        <p:nvSpPr>
          <p:cNvPr id="245" name="Rounded Rectangle 159"/>
          <p:cNvSpPr/>
          <p:nvPr/>
        </p:nvSpPr>
        <p:spPr>
          <a:xfrm>
            <a:off x="548640" y="1280160"/>
            <a:ext cx="8046720" cy="105156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64FFD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160"/>
          <p:cNvSpPr txBox="1"/>
          <p:nvPr/>
        </p:nvSpPr>
        <p:spPr>
          <a:xfrm>
            <a:off x="777240" y="1371600"/>
            <a:ext cx="7589520" cy="893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>
                <a:solidFill>
                  <a:srgbClr val="64FFDA"/>
                </a:solidFill>
              </a:defRPr>
            </a:pPr>
            <a:r>
              <a:t>🐙 GitHub Public Repository</a:t>
            </a:r>
          </a:p>
          <a:p>
            <a:pPr>
              <a:spcBef>
                <a:spcPts val="200"/>
              </a:spcBef>
              <a:defRPr b="1" sz="1200">
                <a:solidFill>
                  <a:srgbClr val="FFFFFF"/>
                </a:solidFill>
              </a:defRPr>
            </a:pPr>
            <a:r>
              <a:t>https://github.com/prabhasuria/The_404_Brigade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Complete open-source repository containing FastAPI backend, Gemini services, test suite, Dockerfile, and architecture documentation.</a:t>
            </a:r>
          </a:p>
        </p:txBody>
      </p:sp>
      <p:sp>
        <p:nvSpPr>
          <p:cNvPr id="247" name="Rounded Rectangle 161"/>
          <p:cNvSpPr/>
          <p:nvPr/>
        </p:nvSpPr>
        <p:spPr>
          <a:xfrm>
            <a:off x="548640" y="2423160"/>
            <a:ext cx="8046720" cy="105156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162"/>
          <p:cNvSpPr txBox="1"/>
          <p:nvPr/>
        </p:nvSpPr>
        <p:spPr>
          <a:xfrm>
            <a:off x="777240" y="2514600"/>
            <a:ext cx="7589520" cy="931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>
                <a:solidFill>
                  <a:srgbClr val="F59E0B"/>
                </a:solidFill>
              </a:defRPr>
            </a:pPr>
            <a:r>
              <a:t>🎥 Demo Video Link (3 Minutes)</a:t>
            </a:r>
          </a:p>
          <a:p>
            <a:pPr>
              <a:spcBef>
                <a:spcPts val="200"/>
              </a:spcBef>
              <a:defRPr b="1" sz="1200">
                <a:solidFill>
                  <a:srgbClr val="FFFFFF"/>
                </a:solidFill>
              </a:defRPr>
            </a:pPr>
            <a:r>
              <a:t>https://github.com/prabhasuria/The_404_Brigade/blob/main/docs/CareProof_AI_Real_UI_and_Icons_Walkthrough.mp4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Full walkthrough video showcasing the real UI, live escrow, overfunding lock, Gemini multilingual Reels, and Baby Elroy flyer scan.</a:t>
            </a:r>
          </a:p>
        </p:txBody>
      </p:sp>
      <p:sp>
        <p:nvSpPr>
          <p:cNvPr id="249" name="Rounded Rectangle 163"/>
          <p:cNvSpPr/>
          <p:nvPr/>
        </p:nvSpPr>
        <p:spPr>
          <a:xfrm>
            <a:off x="548640" y="3566159"/>
            <a:ext cx="8046720" cy="1051561"/>
          </a:xfrm>
          <a:prstGeom prst="roundRect">
            <a:avLst>
              <a:gd name="adj" fmla="val 16667"/>
            </a:avLst>
          </a:prstGeom>
          <a:solidFill>
            <a:srgbClr val="142036"/>
          </a:solidFill>
          <a:ln w="19050">
            <a:solidFill>
              <a:srgbClr val="22C55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164"/>
          <p:cNvSpPr txBox="1"/>
          <p:nvPr/>
        </p:nvSpPr>
        <p:spPr>
          <a:xfrm>
            <a:off x="777240" y="3657600"/>
            <a:ext cx="7589520" cy="75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>
                <a:solidFill>
                  <a:srgbClr val="22C55E"/>
                </a:solidFill>
              </a:defRPr>
            </a:pPr>
            <a:r>
              <a:t>🚀 Final Product Link (Live &amp; Operational)</a:t>
            </a:r>
          </a:p>
          <a:p>
            <a:pPr>
              <a:spcBef>
                <a:spcPts val="200"/>
              </a:spcBef>
              <a:defRPr b="1" sz="1200">
                <a:solidFill>
                  <a:srgbClr val="FFFFFF"/>
                </a:solidFill>
              </a:defRPr>
            </a:pPr>
            <a:r>
              <a:t>https://integrate-europe-compilation-planets.trycloudflare.com</a:t>
            </a:r>
          </a:p>
          <a:p>
            <a:pPr>
              <a:defRPr sz="1000">
                <a:solidFill>
                  <a:srgbClr val="B4BED2"/>
                </a:solidFill>
              </a:defRPr>
            </a:pPr>
            <a:r>
              <a:t>Live public HTTPS prototype accessible from any device worldwide. Also deployable to Google Cloud Run via 'gcloud run deploy'.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Frame 144.pngGoogle Shape;171;p28" descr="Frame 144.pngGoogle Shape;171;p28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001"/>
          <a:stretch>
            <a:fillRect/>
          </a:stretch>
        </p:blipFill>
        <p:spPr>
          <a:xfrm>
            <a:off x="0" y="5093561"/>
            <a:ext cx="9144000" cy="54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Frame 145.pngGoogle Shape;172;p28" descr="Frame 145.pngGoogle Shape;172;p2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